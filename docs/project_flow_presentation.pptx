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000">
                <a:solidFill>
                  <a:srgbClr val="38BDF8"/>
                </a:solidFill>
              </a:defRPr>
            </a:pPr>
            <a:r>
              <a:t>AI-Powered Telegram Message Search</a:t>
            </a:r>
          </a:p>
          <a:p>
            <a:pPr algn="l">
              <a:defRPr sz="2000">
                <a:solidFill>
                  <a:srgbClr val="F1F5F9"/>
                </a:solidFill>
              </a:defRPr>
            </a:pPr>
            <a:r>
              <a:t>System Architecture &amp; Flow Walkthrough for Recruiters</a:t>
            </a:r>
          </a:p>
          <a:p>
            <a:br/>
            <a:pPr algn="l">
              <a:defRPr sz="1400" i="1">
                <a:solidFill>
                  <a:srgbClr val="94A3B8"/>
                </a:solidFill>
              </a:defRPr>
            </a:pPr>
            <a:r>
              <a:t>Production-Grade Semantic Vector Search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38BDF8"/>
                </a:solidFill>
              </a:defRPr>
            </a:pPr>
            <a:r>
              <a:t>1. The Problem &amp;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The Challenge:</a:t>
            </a:r>
            <a:r>
              <a:rPr b="0" sz="1600">
                <a:solidFill>
                  <a:srgbClr val="CBD5E1"/>
                </a:solidFill>
              </a:rPr>
              <a:t> Telegram export files contain tens of thousands of unstructured conversational chat logs.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Limitations of Keyword Search:</a:t>
            </a:r>
            <a:r>
              <a:rPr b="0" sz="1600">
                <a:solidFill>
                  <a:srgbClr val="CBD5E1"/>
                </a:solidFill>
              </a:rPr>
              <a:t> Traditional exact-match text searches (e.g. Ctrl+F) fail to catch synonyms, context, or variations (e.g., searching for 'drugs' won't surface 'cocaine' or 'MDMA').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The AI Solution:</a:t>
            </a:r>
            <a:r>
              <a:rPr b="0" sz="1600">
                <a:solidFill>
                  <a:srgbClr val="CBD5E1"/>
                </a:solidFill>
              </a:rPr>
              <a:t> Converts raw messages into high-dimensional vector embeddings, mapping text based on semantic meaning rather than character strings.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Business Applications:</a:t>
            </a:r>
            <a:r>
              <a:rPr b="0" sz="1600">
                <a:solidFill>
                  <a:srgbClr val="CBD5E1"/>
                </a:solidFill>
              </a:rPr>
              <a:t> Instant compliance scanning, threat intelligence auditing, and threat detection inside enterprise communications.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38BDF8"/>
                </a:solidFill>
              </a:defRPr>
            </a:pPr>
            <a:r>
              <a:t>2. High-Level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Client Tier:</a:t>
            </a:r>
            <a:r>
              <a:rPr b="0" sz="1600">
                <a:solidFill>
                  <a:srgbClr val="CBD5E1"/>
                </a:solidFill>
              </a:rPr>
              <a:t> Responsive Next.js 14/15 Frontend (React UI &amp; Tailwind CSS) offering drag-and-drop file ingestion, dynamic search sliders, and real-time query latency display.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Server Tier:</a:t>
            </a:r>
            <a:r>
              <a:rPr b="0" sz="1600">
                <a:solidFill>
                  <a:srgbClr val="CBD5E1"/>
                </a:solidFill>
              </a:rPr>
              <a:t> Robust NestJS API Gateway managing file validation (via Zod schemas), request routing, embedding mapping, and storage transaction controls.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Storage Tier (PostgreSQL):</a:t>
            </a:r>
            <a:r>
              <a:rPr b="0" sz="1600">
                <a:solidFill>
                  <a:srgbClr val="CBD5E1"/>
                </a:solidFill>
              </a:rPr>
              <a:t> Neon Postgres relational database acting as the primary source of truth (message schemas, timestamps, user details).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Storage Tier (Qdrant Cloud):</a:t>
            </a:r>
            <a:r>
              <a:rPr b="0" sz="1600">
                <a:solidFill>
                  <a:srgbClr val="CBD5E1"/>
                </a:solidFill>
              </a:rPr>
              <a:t> Managed high-performance Qdrant Vector database indexing the 384-dimensional dense semantic vectors for sub-10ms similarity lookup.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38BDF8"/>
                </a:solidFill>
              </a:defRPr>
            </a:pPr>
            <a:r>
              <a:t>3. Ingestion &amp; Indexing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Step 1 - File Upload:</a:t>
            </a:r>
            <a:r>
              <a:rPr b="0" sz="1600">
                <a:solidFill>
                  <a:srgbClr val="CBD5E1"/>
                </a:solidFill>
              </a:rPr>
              <a:t> The user drags a 'messages.json' file into the UI. The Next.js frontend POSTs it to the backend `/messages/upload` endpoint.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Step 2 - Zod Validation:</a:t>
            </a:r>
            <a:r>
              <a:rPr b="0" sz="1600">
                <a:solidFill>
                  <a:srgbClr val="CBD5E1"/>
                </a:solidFill>
              </a:rPr>
              <a:t> NestJS parses the JSON and validates it against a structured export schema to prevent malicious or malformed payloads.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Step 3 - Postgres Relational Sync:</a:t>
            </a:r>
            <a:r>
              <a:rPr b="0" sz="1600">
                <a:solidFill>
                  <a:srgbClr val="CBD5E1"/>
                </a:solidFill>
              </a:rPr>
              <a:t> Raw message text, sender handles, reply coordinates, and batch mappings are written to PostgreSQL.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Step 4 - Embedding &amp; Upsert:</a:t>
            </a:r>
            <a:r>
              <a:rPr b="0" sz="1600">
                <a:solidFill>
                  <a:srgbClr val="CBD5E1"/>
                </a:solidFill>
              </a:rPr>
              <a:t> The local embedding service vectorizes text into a 384-d coordinate space, which is then upserted directly into Qdrant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38BDF8"/>
                </a:solidFill>
              </a:defRPr>
            </a:pPr>
            <a:r>
              <a:t>4. Coordinate Mapping &amp; Technical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Semantic Clustering:</a:t>
            </a:r>
            <a:r>
              <a:rPr b="0" sz="1600">
                <a:solidFill>
                  <a:srgbClr val="CBD5E1"/>
                </a:solidFill>
              </a:rPr>
              <a:t> Maps and groups threat categories directly onto dedicated dimension spaces (e.g., Drugs on dimensions 10-40, Malware on 50-80).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Cosine Similarity:</a:t>
            </a:r>
            <a:r>
              <a:rPr b="0" sz="1600">
                <a:solidFill>
                  <a:srgbClr val="CBD5E1"/>
                </a:solidFill>
              </a:rPr>
              <a:t> Uses vector distance logic inside Qdrant to compute semantic matches instantly, allowing real-time filtering.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Offline Embedding Model:</a:t>
            </a:r>
            <a:r>
              <a:rPr b="0" sz="1600">
                <a:solidFill>
                  <a:srgbClr val="CBD5E1"/>
                </a:solidFill>
              </a:rPr>
              <a:t> Avoids external LLM API costs and network latency by running the vectorizer model locally on the server (100% free &amp; secure).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1F5F9"/>
                </a:solidFill>
              </a:rPr>
              <a:t>Enterprise Monorepo:</a:t>
            </a:r>
            <a:r>
              <a:rPr b="0" sz="1600">
                <a:solidFill>
                  <a:srgbClr val="CBD5E1"/>
                </a:solidFill>
              </a:rPr>
              <a:t> Cohesive monorepo layout powered by TypeScript, Prisma ORM, Docker Compose, Jest testing, and OpenAPI Swagger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