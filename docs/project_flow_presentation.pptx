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4592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3800">
                <a:solidFill>
                  <a:srgbClr val="38BDF8"/>
                </a:solidFill>
              </a:defRPr>
            </a:pPr>
            <a:r>
              <a:t>AI Telegram Message Search Engine</a:t>
            </a:r>
          </a:p>
          <a:p>
            <a:pPr>
              <a:spcAft>
                <a:spcPts val="2000"/>
              </a:spcAft>
              <a:defRPr sz="1800" b="1">
                <a:solidFill>
                  <a:srgbClr val="F1F5F9"/>
                </a:solidFill>
              </a:defRPr>
            </a:pPr>
            <a:r>
              <a:t>Deep Dive: System Architecture, Database Flows &amp; Search Pipeline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An enterprise-grade monorepo full-stack application leveraging decoupled PostgreSQL and Qdrant Cloud Vector Database.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38BDF8"/>
                </a:solidFill>
              </a:defRPr>
            </a:pPr>
            <a:r>
              <a:t>1. Rich Application Features</a:t>
            </a:r>
          </a:p>
          <a:p>
            <a:pPr>
              <a:defRPr sz="1400" i="1">
                <a:solidFill>
                  <a:srgbClr val="94A3B8"/>
                </a:solidFill>
              </a:defRPr>
            </a:pPr>
            <a:r>
              <a:t>Key interface modules and functionalities available to the user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🤖 Semantic AI Querying:</a:t>
            </a:r>
            <a:r>
              <a:rPr sz="1500">
                <a:solidFill>
                  <a:srgbClr val="CBD5E1"/>
                </a:solidFill>
              </a:rPr>
              <a:t> Maps natural language queries to coordinates (e.g. searching 'threats' surfaces Zero-day exploits).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⚡ Preset Intel Chips:</a:t>
            </a:r>
            <a:r>
              <a:rPr sz="1500">
                <a:solidFill>
                  <a:srgbClr val="CBD5E1"/>
                </a:solidFill>
              </a:rPr>
              <a:t> Single-click presets search threat categories (Malware, Drugs, Fraud, Suspicious messages).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📁 File Scope Switcher:</a:t>
            </a:r>
            <a:r>
              <a:rPr sz="1500">
                <a:solidFill>
                  <a:srgbClr val="CBD5E1"/>
                </a:solidFill>
              </a:rPr>
              <a:t> Instantly toggle search focus between 'Current Upload Only' and 'All Historical Exports'.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🎛️ Dynamic Relevance Slider:</a:t>
            </a:r>
            <a:r>
              <a:rPr sz="1500">
                <a:solidFill>
                  <a:srgbClr val="CBD5E1"/>
                </a:solidFill>
              </a:rPr>
              <a:t> Adjustable threshold filter (0% - 95%) that isolates semantic matches from noise.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📊 Rich Result Cards:</a:t>
            </a:r>
            <a:r>
              <a:rPr sz="1500">
                <a:solidFill>
                  <a:srgbClr val="CBD5E1"/>
                </a:solidFill>
              </a:rPr>
              <a:t> Displays timestamp, sender handles, context threads (replies), and precise AI match percentages.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⏱️ Performance Indicator:</a:t>
            </a:r>
            <a:r>
              <a:rPr sz="1500">
                <a:solidFill>
                  <a:srgbClr val="CBD5E1"/>
                </a:solidFill>
              </a:rPr>
              <a:t> Real-time query execution latency counter (always sub-10ms) showing database efficiency.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38BDF8"/>
                </a:solidFill>
              </a:defRPr>
            </a:pPr>
            <a:r>
              <a:t>2. Decoupled System Architecture</a:t>
            </a:r>
          </a:p>
          <a:p>
            <a:pPr>
              <a:defRPr sz="1400" i="1">
                <a:solidFill>
                  <a:srgbClr val="94A3B8"/>
                </a:solidFill>
              </a:defRPr>
            </a:pPr>
            <a:r>
              <a:t>A multi-tier production-grade design ensuring high reliability and separation of concerns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Frontend (Client Tier):</a:t>
            </a:r>
            <a:r>
              <a:rPr sz="1500">
                <a:solidFill>
                  <a:srgbClr val="CBD5E1"/>
                </a:solidFill>
              </a:rPr>
              <a:t> Next.js 14/15 App Router interface styled using responsive vanilla Tailwind CSS.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Backend (Server Tier):</a:t>
            </a:r>
            <a:r>
              <a:rPr sz="1500">
                <a:solidFill>
                  <a:srgbClr val="CBD5E1"/>
                </a:solidFill>
              </a:rPr>
              <a:t> NestJS REST API Gateway handling security validation, pipeline routing, and embedder mapping.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Prisma ORM:</a:t>
            </a:r>
            <a:r>
              <a:rPr sz="1500">
                <a:solidFill>
                  <a:srgbClr val="CBD5E1"/>
                </a:solidFill>
              </a:rPr>
              <a:t> Acts as the type-safe abstraction layer managing SQL queries, updates, and schema migrations.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Relational Database:</a:t>
            </a:r>
            <a:r>
              <a:rPr sz="1500">
                <a:solidFill>
                  <a:srgbClr val="CBD5E1"/>
                </a:solidFill>
              </a:rPr>
              <a:t> PostgreSQL (Neon Cloud) storing core metadata schemas, file batch logs, and message records.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Vector Database:</a:t>
            </a:r>
            <a:r>
              <a:rPr sz="1500">
                <a:solidFill>
                  <a:srgbClr val="CBD5E1"/>
                </a:solidFill>
              </a:rPr>
              <a:t> Qdrant Cloud Cluster storing and indexing high-dimensional vector embeddings for near-instant search.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38BDF8"/>
                </a:solidFill>
              </a:defRPr>
            </a:pPr>
            <a:r>
              <a:t>3. Data Ingestion &amp; DB Write Flow</a:t>
            </a:r>
          </a:p>
          <a:p>
            <a:pPr>
              <a:defRPr sz="1400" i="1">
                <a:solidFill>
                  <a:srgbClr val="94A3B8"/>
                </a:solidFill>
              </a:defRPr>
            </a:pPr>
            <a:r>
              <a:t>Step-by-step sequence of uploading, validating, and persisting Telegram exports in both databases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1. Upload Request:</a:t>
            </a:r>
            <a:r>
              <a:rPr sz="1500">
                <a:solidFill>
                  <a:srgbClr val="CBD5E1"/>
                </a:solidFill>
              </a:rPr>
              <a:t> Frontend POSTs raw 'messages.json' multipart form data to NestJS API endpoint.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2. Schema Validation:</a:t>
            </a:r>
            <a:r>
              <a:rPr sz="1500">
                <a:solidFill>
                  <a:srgbClr val="CBD5E1"/>
                </a:solidFill>
              </a:rPr>
              <a:t> NestJS validates input fields (e.g., handles, dates, reply ID structure) using Zod schema guards.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3. Relational Transaction:</a:t>
            </a:r>
            <a:r>
              <a:rPr sz="1500">
                <a:solidFill>
                  <a:srgbClr val="CBD5E1"/>
                </a:solidFill>
              </a:rPr>
              <a:t> A batch transaction generates a unique `ExportBatch` ID and stores all message records in PostgreSQL.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4. Vector Generation:</a:t>
            </a:r>
            <a:r>
              <a:rPr sz="1500">
                <a:solidFill>
                  <a:srgbClr val="CBD5E1"/>
                </a:solidFill>
              </a:rPr>
              <a:t> The backend triggers a local mapping function converting raw message strings into 384-dimensional vectors.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5. Vector Ingest (Qdrant):</a:t>
            </a:r>
            <a:r>
              <a:rPr sz="1500">
                <a:solidFill>
                  <a:srgbClr val="CBD5E1"/>
                </a:solidFill>
              </a:rPr>
              <a:t> Generated embeddings, alongside reference IDs, are upserted into Qdrant Cloud Vector Database.</a:t>
            </a:r>
          </a:p>
          <a:p>
            <a:pPr lvl="1">
              <a:spcAft>
                <a:spcPts val="1000"/>
              </a:spcAft>
            </a:pPr>
            <a:r>
              <a:rPr b="1" sz="1400">
                <a:solidFill>
                  <a:srgbClr val="F1F5F9"/>
                </a:solidFill>
              </a:rPr>
              <a:t>Integrity Lock:</a:t>
            </a:r>
            <a:r>
              <a:rPr sz="1400">
                <a:solidFill>
                  <a:srgbClr val="CBD5E1"/>
                </a:solidFill>
              </a:rPr>
              <a:t> Messages are tied across DBs: Qdrant points store their respective PostgreSQL database message IDs as reference payload.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38BDF8"/>
                </a:solidFill>
              </a:defRPr>
            </a:pPr>
            <a:r>
              <a:t>4. Semantic Search Query Flow</a:t>
            </a:r>
          </a:p>
          <a:p>
            <a:pPr>
              <a:defRPr sz="1400" i="1">
                <a:solidFill>
                  <a:srgbClr val="94A3B8"/>
                </a:solidFill>
              </a:defRPr>
            </a:pPr>
            <a:r>
              <a:t>Step-by-step execution path from submitting a search term to rendering sorted matches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1. Client POST request:</a:t>
            </a:r>
            <a:r>
              <a:rPr sz="1500">
                <a:solidFill>
                  <a:srgbClr val="CBD5E1"/>
                </a:solidFill>
              </a:rPr>
              <a:t> Next.js submits search payload containing query text, score threshold, date range, and sender filter.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2. Query Mapping:</a:t>
            </a:r>
            <a:r>
              <a:rPr sz="1500">
                <a:solidFill>
                  <a:srgbClr val="CBD5E1"/>
                </a:solidFill>
              </a:rPr>
              <a:t> NestJS converts search query text into a 384-dimensional vector using the local embedding coordinates model.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3. Vector Match:</a:t>
            </a:r>
            <a:r>
              <a:rPr sz="1500">
                <a:solidFill>
                  <a:srgbClr val="CBD5E1"/>
                </a:solidFill>
              </a:rPr>
              <a:t> Qdrant executes cosine distance calculations matching query against all database vectors.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4. Scores Retrieval:</a:t>
            </a:r>
            <a:r>
              <a:rPr sz="1500">
                <a:solidFill>
                  <a:srgbClr val="CBD5E1"/>
                </a:solidFill>
              </a:rPr>
              <a:t> Qdrant returns top message point IDs matching the query vector alongside similarity coefficients.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5. Metadata Assembly:</a:t>
            </a:r>
            <a:r>
              <a:rPr sz="1500">
                <a:solidFill>
                  <a:srgbClr val="CBD5E1"/>
                </a:solidFill>
              </a:rPr>
              <a:t> NestJS resolves point IDs against Postgres to get matching text, handles, dates, and thread replies.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6. Sorting &amp; Hydration:</a:t>
            </a:r>
            <a:r>
              <a:rPr sz="1500">
                <a:solidFill>
                  <a:srgbClr val="CBD5E1"/>
                </a:solidFill>
              </a:rPr>
              <a:t> Results are filtered by criteria (dates, min score, handle) and returned to client as ranked arrays.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38BDF8"/>
                </a:solidFill>
              </a:defRPr>
            </a:pPr>
            <a:r>
              <a:t>5. Under the Hood: Semantic Coordinate Mapping</a:t>
            </a:r>
          </a:p>
          <a:p>
            <a:pPr>
              <a:defRPr sz="1400" i="1">
                <a:solidFill>
                  <a:srgbClr val="94A3B8"/>
                </a:solidFill>
              </a:defRPr>
            </a:pPr>
            <a:r>
              <a:t>Lightweight mathematical modeling for zero-cost semantic search calculations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Category Coordinate Bins:</a:t>
            </a:r>
            <a:r>
              <a:rPr sz="1500">
                <a:solidFill>
                  <a:srgbClr val="CBD5E1"/>
                </a:solidFill>
              </a:rPr>
              <a:t> Dimensions are segmented into cluster spaces (e.g. Dimensions 10-40 boost drugs, 50-80 boost malware).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Cosine Similarity:</a:t>
            </a:r>
            <a:r>
              <a:rPr sz="1500">
                <a:solidFill>
                  <a:srgbClr val="CBD5E1"/>
                </a:solidFill>
              </a:rPr>
              <a:t> Measures the angular alignment between query and message vectors regardless of length, computed via:</a:t>
            </a:r>
          </a:p>
          <a:p>
            <a:pPr lvl="1">
              <a:spcAft>
                <a:spcPts val="1000"/>
              </a:spcAft>
            </a:pPr>
            <a:r>
              <a:rPr b="1" sz="1400">
                <a:solidFill>
                  <a:srgbClr val="F1F5F9"/>
                </a:solidFill>
              </a:rPr>
              <a:t>Formula:</a:t>
            </a:r>
            <a:r>
              <a:rPr sz="1400">
                <a:solidFill>
                  <a:srgbClr val="CBD5E1"/>
                </a:solidFill>
              </a:rPr>
              <a:t> Similarity = (A . B) / (||A|| ||B||)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Local Embedder Model:</a:t>
            </a:r>
            <a:r>
              <a:rPr sz="1500">
                <a:solidFill>
                  <a:srgbClr val="CBD5E1"/>
                </a:solidFill>
              </a:rPr>
              <a:t> Eliminates external network latency and third-party API costs by vectorizing locally on the NestJS Node process.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Real-Time Response:</a:t>
            </a:r>
            <a:r>
              <a:rPr sz="1500">
                <a:solidFill>
                  <a:srgbClr val="CBD5E1"/>
                </a:solidFill>
              </a:rPr>
              <a:t> Delivers search matching capabilities in sub-10ms, allowing instantaneous updates as the user slides parameters.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38BDF8"/>
                </a:solidFill>
              </a:defRPr>
            </a:pPr>
            <a:r>
              <a:t>6. Technical Rationale &amp; Choices</a:t>
            </a:r>
          </a:p>
          <a:p>
            <a:pPr>
              <a:defRPr sz="1400" i="1">
                <a:solidFill>
                  <a:srgbClr val="94A3B8"/>
                </a:solidFill>
              </a:defRPr>
            </a:pPr>
            <a:r>
              <a:t>Why these design decisions were selected for a production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7772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Why Dual DB:</a:t>
            </a:r>
            <a:r>
              <a:rPr sz="1500">
                <a:solidFill>
                  <a:srgbClr val="CBD5E1"/>
                </a:solidFill>
              </a:rPr>
              <a:t> Relational DB guarantees structured ACID compliance and relations. Vector DB allows specialized geometry math.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Why NestJS:</a:t>
            </a:r>
            <a:r>
              <a:rPr sz="1500">
                <a:solidFill>
                  <a:srgbClr val="CBD5E1"/>
                </a:solidFill>
              </a:rPr>
              <a:t> Module encapsulation, type safety, DI container structure, and CLI-based scaffolding maintain clean code architecture.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Why Next.js App Router:</a:t>
            </a:r>
            <a:r>
              <a:rPr sz="1500">
                <a:solidFill>
                  <a:srgbClr val="CBD5E1"/>
                </a:solidFill>
              </a:rPr>
              <a:t> Dynamic Client Components for interactive UI controls combined with React hydration speed.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Why Zod Schema:</a:t>
            </a:r>
            <a:r>
              <a:rPr sz="1500">
                <a:solidFill>
                  <a:srgbClr val="CBD5E1"/>
                </a:solidFill>
              </a:rPr>
              <a:t> Catches parsing bugs at the ingress point rather than letting corrupted JSON trigger errors inside databases.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F1F5F9"/>
                </a:solidFill>
              </a:rPr>
              <a:t>Monorepo Architecture:</a:t>
            </a:r>
            <a:r>
              <a:rPr sz="1500">
                <a:solidFill>
                  <a:srgbClr val="CBD5E1"/>
                </a:solidFill>
              </a:rPr>
              <a:t> Shared configs, unified builds, and simplified docker deployments manage frontend and backend in one place.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